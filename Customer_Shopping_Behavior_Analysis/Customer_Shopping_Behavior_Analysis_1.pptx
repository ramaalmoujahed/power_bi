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5B2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2E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70A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2E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2E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Customers</c:v>
                </c:pt>
              </c:strCache>
            </c:strRef>
          </c:tx>
          <c:spPr>
            <a:solidFill>
              <a:srgbClr val="5B2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2E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70A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Non-Subscribers</c:v>
                  </c:pt>
                  <c:pt idx="1">
                    <c:v>Subscribers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2847</c:v>
                </c:pt>
                <c:pt idx="1">
                  <c:v>1053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2E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2E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2C6F"/>
              </a:solidFill>
              <a:effectLst/>
            </c:spPr>
          </c:dPt>
          <c:dPt>
            <c:idx val="1"/>
            <c:bubble3D val="0"/>
            <c:spPr>
              <a:solidFill>
                <a:srgbClr val="D670A2"/>
              </a:solidFill>
              <a:effectLst/>
            </c:spPr>
          </c:dPt>
          <c:dPt>
            <c:idx val="2"/>
            <c:bubble3D val="0"/>
            <c:spPr>
              <a:solidFill>
                <a:srgbClr val="F0B8D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2E4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D1A4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3D1A4F"/>
                </a:solidFill>
                <a:latin typeface="Calibri"/>
              </a:rPr>
              <a:t>Top 5 by Rating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Rating</c:v>
                </c:pt>
              </c:strCache>
            </c:strRef>
          </c:tx>
          <c:spPr>
            <a:solidFill>
              <a:srgbClr val="5B2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E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Gloves</c:v>
                  </c:pt>
                  <c:pt idx="1">
                    <c:v>Sandals</c:v>
                  </c:pt>
                  <c:pt idx="2">
                    <c:v>Boots</c:v>
                  </c:pt>
                  <c:pt idx="3">
                    <c:v>Hat</c:v>
                  </c:pt>
                  <c:pt idx="4">
                    <c:v>Skirt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A2E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3.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D1A4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3D1A4F"/>
                </a:solidFill>
                <a:latin typeface="Calibri"/>
              </a:rPr>
              <a:t>Most Discounted Products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%</c:v>
                </c:pt>
              </c:strCache>
            </c:strRef>
          </c:tx>
          <c:spPr>
            <a:solidFill>
              <a:srgbClr val="D670A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E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A2E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4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8E44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3A2E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50" u="none">
                  <a:solidFill>
                    <a:srgbClr val="3A2E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50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5B2C6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291840" cy="3291840"/>
          </a:xfrm>
          <a:prstGeom prst="ellipse">
            <a:avLst/>
          </a:prstGeom>
          <a:solidFill>
            <a:srgbClr val="D670A2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846320"/>
            <a:ext cx="2926080" cy="2926080"/>
          </a:xfrm>
          <a:prstGeom prst="ellipse">
            <a:avLst/>
          </a:prstGeom>
          <a:solidFill>
            <a:srgbClr val="8E44AD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in Python  •  SQL Analysis in PostgreSQL  •  Power BI Dashboard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D670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transactions  •  18 features  •  4 product categories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67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1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1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91840" y="16916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1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9184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0" y="16916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1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03504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0" y="16916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1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77824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(imputed)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3502152" cy="1234440"/>
          </a:xfrm>
          <a:prstGeom prst="roundRect">
            <a:avLst>
              <a:gd name="adj" fmla="val 7407"/>
            </a:avLst>
          </a:prstGeom>
          <a:solidFill>
            <a:srgbClr val="F6EE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10712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3776472"/>
            <a:ext cx="3044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Location, Subscription 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33672" y="3246120"/>
            <a:ext cx="3502152" cy="1234440"/>
          </a:xfrm>
          <a:prstGeom prst="roundRect">
            <a:avLst>
              <a:gd name="adj" fmla="val 7407"/>
            </a:avLst>
          </a:prstGeom>
          <a:solidFill>
            <a:srgbClr val="F6EEFB"/>
          </a:solidFill>
          <a:ln/>
        </p:spPr>
      </p:sp>
      <p:sp>
        <p:nvSpPr>
          <p:cNvPr id="16" name="Text 14"/>
          <p:cNvSpPr/>
          <p:nvPr/>
        </p:nvSpPr>
        <p:spPr>
          <a:xfrm>
            <a:off x="4462272" y="3410712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Details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62272" y="3776472"/>
            <a:ext cx="3044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Item, Category, Amount, Season, Size, Color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18704" y="3246120"/>
            <a:ext cx="3502152" cy="1234440"/>
          </a:xfrm>
          <a:prstGeom prst="roundRect">
            <a:avLst>
              <a:gd name="adj" fmla="val 7407"/>
            </a:avLst>
          </a:prstGeom>
          <a:solidFill>
            <a:srgbClr val="F6EEFB"/>
          </a:solidFill>
          <a:ln/>
        </p:spPr>
      </p:sp>
      <p:sp>
        <p:nvSpPr>
          <p:cNvPr id="19" name="Text 17"/>
          <p:cNvSpPr/>
          <p:nvPr/>
        </p:nvSpPr>
        <p:spPr>
          <a:xfrm>
            <a:off x="8147304" y="3410712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147304" y="3776472"/>
            <a:ext cx="3044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Discount, Frequency, Review Rating, Shipping Type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8006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customer shopping behavior across 3,900 transactions to uncover spending patterns, customer segments, and subscription trends that guide strategic business decisions.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67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1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in Python using pandas, prior to loading into PostgreSQL.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6EEF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D670A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Explore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25880" y="2313432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the dataset with pandas; used df.info() and .describe() to check structure and summary statistics.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6EE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2057400"/>
            <a:ext cx="384048" cy="384048"/>
          </a:xfrm>
          <a:prstGeom prst="ellipse">
            <a:avLst/>
          </a:prstGeom>
          <a:solidFill>
            <a:srgbClr val="D670A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19842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Data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49440" y="2313432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37 missing Review Rating values using the median rating within each product category.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548640" y="3401568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6EE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630168"/>
            <a:ext cx="384048" cy="384048"/>
          </a:xfrm>
          <a:prstGeom prst="ellipse">
            <a:avLst/>
          </a:prstGeom>
          <a:solidFill>
            <a:srgbClr val="D670A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30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5570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25880" y="38862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all columns to snake_case for readability and consistent downstream use.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6172200" y="3401568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6EE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3630168"/>
            <a:ext cx="384048" cy="384048"/>
          </a:xfrm>
          <a:prstGeom prst="ellipse">
            <a:avLst/>
          </a:prstGeom>
          <a:solidFill>
            <a:srgbClr val="D670A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630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35570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49440" y="38862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(binned ages) and purchase_frequency_days from purchase cadence.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548640" y="4974336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6EEFB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5202936"/>
            <a:ext cx="384048" cy="384048"/>
          </a:xfrm>
          <a:prstGeom prst="ellipse">
            <a:avLst/>
          </a:prstGeom>
          <a:solidFill>
            <a:srgbClr val="D670A2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202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51297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Consistency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325880" y="545896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discount_applied and promo_code_used were redundant; dropped promo_code_used.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6172200" y="4974336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6EEFB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5202936"/>
            <a:ext cx="384048" cy="384048"/>
          </a:xfrm>
          <a:prstGeom prst="ellipse">
            <a:avLst/>
          </a:prstGeom>
          <a:solidFill>
            <a:srgbClr val="D670A2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5202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51297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 Database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949440" y="545896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Python to PostgreSQL and loaded the cleaned DataFrame for SQL analysis.</a:t>
            </a:r>
            <a:endParaRPr lang="en-US" sz="106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67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1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Gender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600200"/>
            <a:ext cx="45262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3D3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60920" y="17830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67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60920" y="2103120"/>
            <a:ext cx="397764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generated 2.1× more revenue than female customers — a critical segment for targeted campaigns.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360920" y="5486400"/>
            <a:ext cx="3977640" cy="411480"/>
          </a:xfrm>
          <a:prstGeom prst="roundRect">
            <a:avLst>
              <a:gd name="adj" fmla="val 13333"/>
            </a:avLst>
          </a:prstGeom>
          <a:solidFill>
            <a:srgbClr val="F6EEFB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54864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 $157,890  •  Female: $75,191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67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1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Subscribers vs. Non-Subscribers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600200"/>
            <a:ext cx="45262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3D3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60920" y="18288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67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60920" y="214884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Subscribers: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$59.49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Non-Subscribers: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$59.87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60920" y="30175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67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60920" y="333756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Subscribers: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$62,645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Non-Subscribers: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$170,436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60920" y="43434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6EEFB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4480560"/>
            <a:ext cx="3611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67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customers subscribe — a major growth opportunity.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67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1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60020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6EEFB"/>
          </a:solidFill>
          <a:ln/>
        </p:spPr>
      </p:sp>
      <p:sp>
        <p:nvSpPr>
          <p:cNvPr id="6" name="Text 3"/>
          <p:cNvSpPr/>
          <p:nvPr/>
        </p:nvSpPr>
        <p:spPr>
          <a:xfrm>
            <a:off x="6492240" y="1764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22376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223760" y="2103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customers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2816352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6EEFB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29809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223760" y="2953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23760" y="33192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 customers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4032504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6EEFB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41970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🆕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223760" y="416966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23760" y="45354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customers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5294376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high-spending discount users identified. 958 repeat buyers (&gt;5 purchases) hold subscriptions, vs. 2,518 who do not.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67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1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Products &amp; Discount Patterns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73736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67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1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Age Group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600200"/>
            <a:ext cx="45262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3D3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60920" y="17830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67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60920" y="2103120"/>
            <a:ext cx="397764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 revenue across all age groups. Express shippers spend slightly more on average — a premium segment worth targeting.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360920" y="5486400"/>
            <a:ext cx="3977640" cy="411480"/>
          </a:xfrm>
          <a:prstGeom prst="roundRect">
            <a:avLst>
              <a:gd name="adj" fmla="val 13333"/>
            </a:avLst>
          </a:prstGeom>
          <a:solidFill>
            <a:srgbClr val="F6EEFB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54864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$58.46 avg  •  Express: $60.48 avg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1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67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Power BI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insights consolidated into an interactive dashboard for stakeholder exploration.</a:t>
            </a:r>
            <a:endParaRPr lang="en-US" sz="1300" dirty="0"/>
          </a:p>
        </p:txBody>
      </p:sp>
      <p:pic>
        <p:nvPicPr>
          <p:cNvPr id="5" name="Image 0" descr="/home/claude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91640"/>
            <a:ext cx="10515600" cy="4828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67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1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5B2C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0" cy="1691640"/>
          </a:xfrm>
          <a:prstGeom prst="line">
            <a:avLst/>
          </a:prstGeom>
          <a:noFill/>
          <a:ln w="38100">
            <a:solidFill>
              <a:srgbClr val="D670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928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971800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exclusive benefits to grow the 27% subscriber base.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233672" y="1691640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5B2C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33672" y="1828800"/>
            <a:ext cx="0" cy="1691640"/>
          </a:xfrm>
          <a:prstGeom prst="line">
            <a:avLst/>
          </a:prstGeom>
          <a:noFill/>
          <a:ln w="38100">
            <a:solidFill>
              <a:srgbClr val="D670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18928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💎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89704" y="246888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9704" y="2971800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repeat buyers to grow the “Loyal” segment.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918704" y="1691640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5B2C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18704" y="1828800"/>
            <a:ext cx="0" cy="1691640"/>
          </a:xfrm>
          <a:prstGeom prst="line">
            <a:avLst/>
          </a:prstGeom>
          <a:noFill/>
          <a:ln w="38100">
            <a:solidFill>
              <a:srgbClr val="D670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74736" y="18928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174736" y="246888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Policy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74736" y="2971800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sales lift with margin control.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5B2C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77640"/>
            <a:ext cx="0" cy="1691640"/>
          </a:xfrm>
          <a:prstGeom prst="line">
            <a:avLst/>
          </a:prstGeom>
          <a:noFill/>
          <a:ln w="38100">
            <a:solidFill>
              <a:srgbClr val="D670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0416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04672" y="461772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5120640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high-revenue age groups &amp; express shippers.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233672" y="3840480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5B2C6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33672" y="3977640"/>
            <a:ext cx="0" cy="1691640"/>
          </a:xfrm>
          <a:prstGeom prst="line">
            <a:avLst/>
          </a:prstGeom>
          <a:noFill/>
          <a:ln w="38100">
            <a:solidFill>
              <a:srgbClr val="D670A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9704" y="40416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🏅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489704" y="461772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89704" y="5120640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top-rated, best-selling items in campaigns.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1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5029200" cy="5029200"/>
          </a:xfrm>
          <a:prstGeom prst="ellipse">
            <a:avLst/>
          </a:prstGeom>
          <a:solidFill>
            <a:srgbClr val="5B2C6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670A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D670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•  Python  •  PostgreSQL  •  Power BI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2026-07-20T20:05:15Z</dcterms:created>
  <dcterms:modified xsi:type="dcterms:W3CDTF">2026-07-20T20:05:16Z</dcterms:modified>
</cp:coreProperties>
</file>